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6364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C8EF7"/>
          </a:solidFill>
          <a:ln w="12700">
            <a:solidFill>
              <a:srgbClr val="6C8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02920" y="566928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1E2D5A"/>
          </a:solidFill>
          <a:ln w="12700">
            <a:solidFill>
              <a:srgbClr val="6C8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D'ARCHITECTURE TECHNIQUE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322576" y="10058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502920" y="212140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 — iOS / React Native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560320"/>
            <a:ext cx="5486400" cy="0"/>
          </a:xfrm>
          <a:prstGeom prst="line">
            <a:avLst/>
          </a:prstGeom>
          <a:noFill/>
          <a:ln w="1270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02920" y="27889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29718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— Juillet 2026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60520" y="27889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60520" y="29718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16+ (React Native 0.75.4)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44728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36301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— West EU (Ireland)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60520" y="344728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60520" y="36301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/ TestFlight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PatriMoi v1.2 — DAT — Juillet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20040" y="9144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6C8EF7"/>
          </a:solidFill>
          <a:ln w="12700">
            <a:solidFill>
              <a:srgbClr val="6C8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117"/>
                </a:solidFill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portée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PatriMoi est une application iOS de suivi de patrimoine personnel destinée aux Marocains (résidant au Maroc ou à l'étranger). Elle couvre 8 catégories d'actifs.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81328"/>
            <a:ext cx="4297680" cy="749808"/>
          </a:xfrm>
          <a:prstGeom prst="roundRect">
            <a:avLst>
              <a:gd name="adj" fmla="val 7317"/>
            </a:avLst>
          </a:prstGeom>
          <a:solidFill>
            <a:srgbClr val="1A1D2E"/>
          </a:solidFill>
          <a:ln w="15240">
            <a:solidFill>
              <a:srgbClr val="F7C26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démo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pré-remplies (~1,5 M DH), sans compte, persistance MMKV locale uniquement.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340864"/>
            <a:ext cx="4297680" cy="749808"/>
          </a:xfrm>
          <a:prstGeom prst="roundRect">
            <a:avLst>
              <a:gd name="adj" fmla="val 7317"/>
            </a:avLst>
          </a:prstGeom>
          <a:solidFill>
            <a:srgbClr val="1A1D2E"/>
          </a:solidFill>
          <a:ln w="15240">
            <a:solidFill>
              <a:srgbClr val="5EE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239572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connecté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596896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Supabase, sync cloud, snapshots historiques, abonnement PatriMoi+ (49 DH/mois).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320040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CATÉGORIES D'ACTIFS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3456432"/>
            <a:ext cx="1005840" cy="347472"/>
          </a:xfrm>
          <a:prstGeom prst="roundRect">
            <a:avLst>
              <a:gd name="adj" fmla="val 10526"/>
            </a:avLst>
          </a:prstGeom>
          <a:solidFill>
            <a:srgbClr val="242740"/>
          </a:solidFill>
          <a:ln w="1270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20040" y="345643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Immobilier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399032" y="3456432"/>
            <a:ext cx="1005840" cy="347472"/>
          </a:xfrm>
          <a:prstGeom prst="roundRect">
            <a:avLst>
              <a:gd name="adj" fmla="val 10526"/>
            </a:avLst>
          </a:prstGeom>
          <a:solidFill>
            <a:srgbClr val="242740"/>
          </a:solidFill>
          <a:ln w="1270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1399032" y="345643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Bourse (PEA)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78024" y="3456432"/>
            <a:ext cx="1005840" cy="347472"/>
          </a:xfrm>
          <a:prstGeom prst="roundRect">
            <a:avLst>
              <a:gd name="adj" fmla="val 10526"/>
            </a:avLst>
          </a:prstGeom>
          <a:solidFill>
            <a:srgbClr val="242740"/>
          </a:solidFill>
          <a:ln w="1270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478024" y="345643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Compte-titres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557016" y="3456432"/>
            <a:ext cx="1005840" cy="347472"/>
          </a:xfrm>
          <a:prstGeom prst="roundRect">
            <a:avLst>
              <a:gd name="adj" fmla="val 10526"/>
            </a:avLst>
          </a:prstGeom>
          <a:solidFill>
            <a:srgbClr val="242740"/>
          </a:solidFill>
          <a:ln w="1270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557016" y="345643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Or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877056"/>
            <a:ext cx="1005840" cy="347472"/>
          </a:xfrm>
          <a:prstGeom prst="roundRect">
            <a:avLst>
              <a:gd name="adj" fmla="val 10526"/>
            </a:avLst>
          </a:prstGeom>
          <a:solidFill>
            <a:srgbClr val="242740"/>
          </a:solidFill>
          <a:ln w="1270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20040" y="387705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Assurance-vie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99032" y="3877056"/>
            <a:ext cx="1005840" cy="347472"/>
          </a:xfrm>
          <a:prstGeom prst="roundRect">
            <a:avLst>
              <a:gd name="adj" fmla="val 10526"/>
            </a:avLst>
          </a:prstGeom>
          <a:solidFill>
            <a:srgbClr val="242740"/>
          </a:solidFill>
          <a:ln w="1270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1399032" y="387705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💵 Liquidités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478024" y="3877056"/>
            <a:ext cx="1005840" cy="347472"/>
          </a:xfrm>
          <a:prstGeom prst="roundRect">
            <a:avLst>
              <a:gd name="adj" fmla="val 10526"/>
            </a:avLst>
          </a:prstGeom>
          <a:solidFill>
            <a:srgbClr val="242740"/>
          </a:solidFill>
          <a:ln w="1270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478024" y="387705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🧓 Retraite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557016" y="3877056"/>
            <a:ext cx="1005840" cy="347472"/>
          </a:xfrm>
          <a:prstGeom prst="roundRect">
            <a:avLst>
              <a:gd name="adj" fmla="val 10526"/>
            </a:avLst>
          </a:prstGeom>
          <a:solidFill>
            <a:srgbClr val="242740"/>
          </a:solidFill>
          <a:ln w="1270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557016" y="387705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Autres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749808"/>
          <a:ext cx="3977640" cy="2139696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Plateforme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 16+ (iPhone, iPad)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Native 0.75.4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Architecture (Paper)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Moteur JS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Hermes 0.13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 / JSX + TSX (nav)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EE7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— West EU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Stockage local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MMKV + Keychain + AsyncStorage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7C2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TestFlight → App Store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20040" y="9144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6C8EF7"/>
          </a:solidFill>
          <a:ln w="12700">
            <a:solidFill>
              <a:srgbClr val="6C8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117"/>
                </a:solidFill>
              </a:rPr>
              <a:t>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de l'architecture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8503920" cy="512064"/>
          </a:xfrm>
          <a:prstGeom prst="roundRect">
            <a:avLst>
              <a:gd name="adj" fmla="val 10714"/>
            </a:avLst>
          </a:prstGeom>
          <a:solidFill>
            <a:srgbClr val="1A1D2E"/>
          </a:solidFill>
          <a:ln w="15240">
            <a:solidFill>
              <a:srgbClr val="6C8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02920" y="78638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directeur — Client-heavy, BaaS-backed 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969264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la logique métier tourne dans le client React Native. Supabase est la sauvegarde cloud, pas un ORM. Toutes les mutations transitent par l'outbox MMKV.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508760"/>
            <a:ext cx="1097280" cy="1097280"/>
          </a:xfrm>
          <a:prstGeom prst="ellipse">
            <a:avLst/>
          </a:prstGeom>
          <a:solidFill>
            <a:srgbClr val="1E2D5A"/>
          </a:solidFill>
          <a:ln w="19050">
            <a:solidFill>
              <a:srgbClr val="6C8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74320" y="1572768"/>
            <a:ext cx="10972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17320" y="2057400"/>
            <a:ext cx="548640" cy="0"/>
          </a:xfrm>
          <a:prstGeom prst="line">
            <a:avLst/>
          </a:prstGeom>
          <a:noFill/>
          <a:ln w="25400">
            <a:solidFill>
              <a:srgbClr val="6C8EF7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011680" y="1325880"/>
            <a:ext cx="2926080" cy="2377440"/>
          </a:xfrm>
          <a:prstGeom prst="roundRect">
            <a:avLst>
              <a:gd name="adj" fmla="val 3077"/>
            </a:avLst>
          </a:prstGeom>
          <a:solidFill>
            <a:srgbClr val="1A1D2E"/>
          </a:solidFill>
          <a:ln w="25400">
            <a:solidFill>
              <a:srgbClr val="6C8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103120" y="13716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PatriMoi App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0" y="16459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0.75.4 / Hermes 0.13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48840" y="1920240"/>
            <a:ext cx="2651760" cy="237744"/>
          </a:xfrm>
          <a:prstGeom prst="roundRect">
            <a:avLst>
              <a:gd name="adj" fmla="val 15385"/>
            </a:avLst>
          </a:prstGeom>
          <a:solidFill>
            <a:srgbClr val="242740"/>
          </a:solidFill>
          <a:ln w="1270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148840" y="192024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(JSX)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48840" y="2194560"/>
            <a:ext cx="2651760" cy="237744"/>
          </a:xfrm>
          <a:prstGeom prst="roundRect">
            <a:avLst>
              <a:gd name="adj" fmla="val 15385"/>
            </a:avLst>
          </a:prstGeom>
          <a:solidFill>
            <a:srgbClr val="242740"/>
          </a:solidFill>
          <a:ln w="1270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148840" y="219456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Store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48840" y="2468880"/>
            <a:ext cx="2651760" cy="237744"/>
          </a:xfrm>
          <a:prstGeom prst="roundRect">
            <a:avLst>
              <a:gd name="adj" fmla="val 15385"/>
            </a:avLst>
          </a:prstGeom>
          <a:solidFill>
            <a:srgbClr val="242740"/>
          </a:solidFill>
          <a:ln w="1270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148840" y="246888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(MMKV + Keychain)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48840" y="2743200"/>
            <a:ext cx="2651760" cy="237744"/>
          </a:xfrm>
          <a:prstGeom prst="roundRect">
            <a:avLst>
              <a:gd name="adj" fmla="val 15385"/>
            </a:avLst>
          </a:prstGeom>
          <a:solidFill>
            <a:srgbClr val="242740"/>
          </a:solidFill>
          <a:ln w="1270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148840" y="274320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SyncQueue (Outbox)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83480" y="1920240"/>
            <a:ext cx="548640" cy="0"/>
          </a:xfrm>
          <a:prstGeom prst="line">
            <a:avLst/>
          </a:prstGeom>
          <a:noFill/>
          <a:ln w="25400">
            <a:solidFill>
              <a:srgbClr val="5EE7A7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983480" y="16916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JWT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577840" y="1325880"/>
            <a:ext cx="2880360" cy="2377440"/>
          </a:xfrm>
          <a:prstGeom prst="roundRect">
            <a:avLst>
              <a:gd name="adj" fmla="val 3077"/>
            </a:avLst>
          </a:prstGeom>
          <a:solidFill>
            <a:srgbClr val="1A1D2E"/>
          </a:solidFill>
          <a:ln w="25400">
            <a:solidFill>
              <a:srgbClr val="5EE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669280" y="137160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0" y="1645920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EU (Ireland) — fwgsdjha…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15000" y="1920240"/>
            <a:ext cx="2606040" cy="256032"/>
          </a:xfrm>
          <a:prstGeom prst="roundRect">
            <a:avLst>
              <a:gd name="adj" fmla="val 14286"/>
            </a:avLst>
          </a:prstGeom>
          <a:solidFill>
            <a:srgbClr val="0D3325"/>
          </a:solidFill>
          <a:ln w="12700">
            <a:solidFill>
              <a:srgbClr val="5EE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715000" y="192024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(JWT)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715000" y="2231136"/>
            <a:ext cx="2606040" cy="256032"/>
          </a:xfrm>
          <a:prstGeom prst="roundRect">
            <a:avLst>
              <a:gd name="adj" fmla="val 14286"/>
            </a:avLst>
          </a:prstGeom>
          <a:solidFill>
            <a:srgbClr val="0D3325"/>
          </a:solidFill>
          <a:ln w="12700">
            <a:solidFill>
              <a:srgbClr val="5EE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715000" y="223113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patrimoine_data (JSONB)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15000" y="2542032"/>
            <a:ext cx="2606040" cy="256032"/>
          </a:xfrm>
          <a:prstGeom prst="roundRect">
            <a:avLst>
              <a:gd name="adj" fmla="val 14286"/>
            </a:avLst>
          </a:prstGeom>
          <a:solidFill>
            <a:srgbClr val="3D2A00"/>
          </a:solidFill>
          <a:ln w="12700">
            <a:solidFill>
              <a:srgbClr val="F7C26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715000" y="254203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market_cache (pg_cron)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715000" y="2852928"/>
            <a:ext cx="2606040" cy="256032"/>
          </a:xfrm>
          <a:prstGeom prst="roundRect">
            <a:avLst>
              <a:gd name="adj" fmla="val 14286"/>
            </a:avLst>
          </a:prstGeom>
          <a:solidFill>
            <a:srgbClr val="1E2D5A"/>
          </a:solidFill>
          <a:ln w="12700">
            <a:solidFill>
              <a:srgbClr val="6C8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715000" y="285292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+ RLS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011680" y="3913632"/>
            <a:ext cx="1600200" cy="594360"/>
          </a:xfrm>
          <a:prstGeom prst="roundRect">
            <a:avLst>
              <a:gd name="adj" fmla="val 9231"/>
            </a:avLst>
          </a:prstGeom>
          <a:solidFill>
            <a:srgbClr val="242740"/>
          </a:solidFill>
          <a:ln w="15240">
            <a:solidFill>
              <a:srgbClr val="F7C26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2011680" y="3913632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BVC Proxy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(Edge Fn)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840480" y="3913632"/>
            <a:ext cx="1600200" cy="594360"/>
          </a:xfrm>
          <a:prstGeom prst="roundRect">
            <a:avLst>
              <a:gd name="adj" fmla="val 9231"/>
            </a:avLst>
          </a:prstGeom>
          <a:solidFill>
            <a:srgbClr val="242740"/>
          </a:solidFill>
          <a:ln w="15240">
            <a:solidFill>
              <a:srgbClr val="F7C26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3840480" y="3913632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/ Devises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(APIs ext.)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577840" y="3913632"/>
            <a:ext cx="1600200" cy="594360"/>
          </a:xfrm>
          <a:prstGeom prst="roundRect">
            <a:avLst>
              <a:gd name="adj" fmla="val 9231"/>
            </a:avLst>
          </a:prstGeom>
          <a:solidFill>
            <a:srgbClr val="242740"/>
          </a:solidFill>
          <a:ln w="15240">
            <a:solidFill>
              <a:srgbClr val="F76C8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5577840" y="3913632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7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(monitoring)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60320" y="37216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marché →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486400" y="372160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7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→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20040" y="9144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6C8EF7"/>
          </a:solidFill>
          <a:ln w="12700">
            <a:solidFill>
              <a:srgbClr val="6C8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117"/>
                </a:solidFill>
              </a:rPr>
              <a:t>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logicielle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42416"/>
          <a:ext cx="4114800" cy="1664208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Native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C8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UI mobile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Hermes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C8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Moteur JS (AOT)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Librairie UI / hooks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7C2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(Paper)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 JS↔Native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^0.80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Bundler JS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Babel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 preset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JSX → CJS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30906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Hermes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" y="3383280"/>
            <a:ext cx="4114800" cy="621792"/>
          </a:xfrm>
          <a:prstGeom prst="roundRect">
            <a:avLst>
              <a:gd name="adj" fmla="val 8824"/>
            </a:avLst>
          </a:prstGeom>
          <a:solidFill>
            <a:srgbClr val="1A1D2E"/>
          </a:solidFill>
          <a:ln w="15240">
            <a:solidFill>
              <a:srgbClr val="F7C26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457200" y="34290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C2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AbortSignal.timeout()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57200" y="362102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makeTimeoutSignal(ms) maison avec AbortController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0040" y="4069080"/>
            <a:ext cx="4114800" cy="621792"/>
          </a:xfrm>
          <a:prstGeom prst="roundRect">
            <a:avLst>
              <a:gd name="adj" fmla="val 8824"/>
            </a:avLst>
          </a:prstGeom>
          <a:solidFill>
            <a:srgbClr val="1A1D2E"/>
          </a:solidFill>
          <a:ln w="15240">
            <a:solidFill>
              <a:srgbClr val="F7C26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457200" y="41148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C2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crypto.getRandomValues()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57200" y="430682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depuis Hermes 0.13 + fallback Math.random() dans _generateKey()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663440" y="74980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deux dépôts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63440" y="1042416"/>
            <a:ext cx="4160520" cy="1783080"/>
          </a:xfrm>
          <a:prstGeom prst="roundRect">
            <a:avLst>
              <a:gd name="adj" fmla="val 3077"/>
            </a:avLst>
          </a:prstGeom>
          <a:solidFill>
            <a:srgbClr val="1A1D2E"/>
          </a:solidFill>
          <a:ln w="15240">
            <a:solidFill>
              <a:srgbClr val="6C8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4800600" y="10972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8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~/Claude/Projects/PatriMoi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800600" y="133502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source / CI / GitHub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800600" y="1554480"/>
            <a:ext cx="3840480" cy="237744"/>
          </a:xfrm>
          <a:prstGeom prst="roundRect">
            <a:avLst>
              <a:gd name="adj" fmla="val 11538"/>
            </a:avLst>
          </a:prstGeom>
          <a:solidFill>
            <a:srgbClr val="242740"/>
          </a:solidFill>
          <a:ln w="635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4892040" y="155448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 · pages/ · utils/ · store/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800600" y="1828800"/>
            <a:ext cx="3840480" cy="237744"/>
          </a:xfrm>
          <a:prstGeom prst="roundRect">
            <a:avLst>
              <a:gd name="adj" fmla="val 11538"/>
            </a:avLst>
          </a:prstGeom>
          <a:solidFill>
            <a:srgbClr val="242740"/>
          </a:solidFill>
          <a:ln w="635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4892040" y="182880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 · docs/ · backend/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800600" y="2103120"/>
            <a:ext cx="3840480" cy="237744"/>
          </a:xfrm>
          <a:prstGeom prst="roundRect">
            <a:avLst>
              <a:gd name="adj" fmla="val 11538"/>
            </a:avLst>
          </a:prstGeom>
          <a:solidFill>
            <a:srgbClr val="242740"/>
          </a:solidFill>
          <a:ln w="635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4892040" y="210312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.github/workflows/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800600" y="2377440"/>
            <a:ext cx="3840480" cy="237744"/>
          </a:xfrm>
          <a:prstGeom prst="roundRect">
            <a:avLst>
              <a:gd name="adj" fmla="val 11538"/>
            </a:avLst>
          </a:prstGeom>
          <a:solidFill>
            <a:srgbClr val="242740"/>
          </a:solidFill>
          <a:ln w="635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4892040" y="237744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 (sans natives)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663440" y="2962656"/>
            <a:ext cx="4160520" cy="1783080"/>
          </a:xfrm>
          <a:prstGeom prst="roundRect">
            <a:avLst>
              <a:gd name="adj" fmla="val 3077"/>
            </a:avLst>
          </a:prstGeom>
          <a:solidFill>
            <a:srgbClr val="1A1D2E"/>
          </a:solidFill>
          <a:ln w="15240">
            <a:solidFill>
              <a:srgbClr val="5EE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4800600" y="30175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E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~/PatriMoiApp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800600" y="325526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build Xcode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800600" y="3474720"/>
            <a:ext cx="3840480" cy="237744"/>
          </a:xfrm>
          <a:prstGeom prst="roundRect">
            <a:avLst>
              <a:gd name="adj" fmla="val 11538"/>
            </a:avLst>
          </a:prstGeom>
          <a:solidFill>
            <a:srgbClr val="242740"/>
          </a:solidFill>
          <a:ln w="635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8"/>
          <p:cNvSpPr/>
          <p:nvPr/>
        </p:nvSpPr>
        <p:spPr>
          <a:xfrm>
            <a:off x="4892040" y="347472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ios/ · android/ · Pods/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800600" y="3749040"/>
            <a:ext cx="3840480" cy="237744"/>
          </a:xfrm>
          <a:prstGeom prst="roundRect">
            <a:avLst>
              <a:gd name="adj" fmla="val 11538"/>
            </a:avLst>
          </a:prstGeom>
          <a:solidFill>
            <a:srgbClr val="242740"/>
          </a:solidFill>
          <a:ln w="635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4892040" y="374904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node_modules/ (natives inclus)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800600" y="4023360"/>
            <a:ext cx="3840480" cy="237744"/>
          </a:xfrm>
          <a:prstGeom prst="roundRect">
            <a:avLst>
              <a:gd name="adj" fmla="val 11538"/>
            </a:avLst>
          </a:prstGeom>
          <a:solidFill>
            <a:srgbClr val="242740"/>
          </a:solidFill>
          <a:ln w="635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2"/>
          <p:cNvSpPr/>
          <p:nvPr/>
        </p:nvSpPr>
        <p:spPr>
          <a:xfrm>
            <a:off x="4892040" y="40233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 (MMKV, Keychain…)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800600" y="4297680"/>
            <a:ext cx="3840480" cy="237744"/>
          </a:xfrm>
          <a:prstGeom prst="roundRect">
            <a:avLst>
              <a:gd name="adj" fmla="val 11538"/>
            </a:avLst>
          </a:prstGeom>
          <a:solidFill>
            <a:srgbClr val="242740"/>
          </a:solidFill>
          <a:ln w="635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4"/>
          <p:cNvSpPr/>
          <p:nvPr/>
        </p:nvSpPr>
        <p:spPr>
          <a:xfrm>
            <a:off x="4892040" y="429768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 → IPA → TestFlight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349240" y="2926080"/>
            <a:ext cx="2560320" cy="420624"/>
          </a:xfrm>
          <a:prstGeom prst="roundRect">
            <a:avLst>
              <a:gd name="adj" fmla="val 10870"/>
            </a:avLst>
          </a:prstGeom>
          <a:solidFill>
            <a:srgbClr val="3D2A00"/>
          </a:solidFill>
          <a:ln w="19050">
            <a:solidFill>
              <a:srgbClr val="F7C26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6"/>
          <p:cNvSpPr/>
          <p:nvPr/>
        </p:nvSpPr>
        <p:spPr>
          <a:xfrm>
            <a:off x="5349240" y="292608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apply_modifs.command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5349240" y="312724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rsync sélectif + rm .ts/.tsx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20040" y="9144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6C8EF7"/>
          </a:solidFill>
          <a:ln w="12700">
            <a:solidFill>
              <a:srgbClr val="6C8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117"/>
                </a:solidFill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stockage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2788920" cy="1874520"/>
          </a:xfrm>
          <a:prstGeom prst="roundRect">
            <a:avLst>
              <a:gd name="adj" fmla="val 2927"/>
            </a:avLst>
          </a:prstGeom>
          <a:solidFill>
            <a:srgbClr val="1A1D2E"/>
          </a:solidFill>
          <a:ln w="15240">
            <a:solidFill>
              <a:srgbClr val="6C8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804672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6C8EF7"/>
          </a:solidFill>
          <a:ln w="12700">
            <a:solidFill>
              <a:srgbClr val="6C8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80467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MMKV chiffré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11338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patrimoi_v2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AES-128 (encryptionKey = clé Keychain)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691640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Lectures synchrones — pas d'await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011680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Données patrimoine JSON complètes + outbox queue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331720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~10× plus rapide qu'AsyncStorage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64408" y="749808"/>
            <a:ext cx="2788920" cy="1874520"/>
          </a:xfrm>
          <a:prstGeom prst="roundRect">
            <a:avLst>
              <a:gd name="adj" fmla="val 2927"/>
            </a:avLst>
          </a:prstGeom>
          <a:solidFill>
            <a:srgbClr val="1A1D2E"/>
          </a:solidFill>
          <a:ln w="15240">
            <a:solidFill>
              <a:srgbClr val="5EE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401568" y="804672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5EE7A7"/>
          </a:solidFill>
          <a:ln w="12700">
            <a:solidFill>
              <a:srgbClr val="5EE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401568" y="804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13048" y="80467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Keychain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01568" y="11338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patrimoi.mmkv.key / .supabase / .pin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47288" y="1371600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WHEN_UNLOCKED_THIS_DEVICE_ONLY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47288" y="1691640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Clé AES-128 MMKV + JWT Supabase + PIN hash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47288" y="2011680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Clés dérivées du Secure Enclave — absent des backups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47288" y="2331720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Isolation par device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08776" y="749808"/>
            <a:ext cx="2788920" cy="1874520"/>
          </a:xfrm>
          <a:prstGeom prst="roundRect">
            <a:avLst>
              <a:gd name="adj" fmla="val 2927"/>
            </a:avLst>
          </a:prstGeom>
          <a:solidFill>
            <a:srgbClr val="1A1D2E"/>
          </a:solidFill>
          <a:ln w="15240">
            <a:solidFill>
              <a:srgbClr val="F7C26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345936" y="804672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F7C26C"/>
          </a:solidFill>
          <a:ln w="12700">
            <a:solidFill>
              <a:srgbClr val="F7C26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345936" y="804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57416" y="80467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AsyncStorage (legacy)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45936" y="11338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Fallback offline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391656" y="1371600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Non chiffré — couche legacy uniquement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91656" y="1691640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smartRead : MMKV first, fallback AS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91656" y="2011680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Sera retiré quand migration complète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91656" y="2331720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 jamais écrire de nouvelles données ici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0040" y="274320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Séquence d'initialisation du stockage (storage.js)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3090672"/>
            <a:ext cx="1600200" cy="1627632"/>
          </a:xfrm>
          <a:prstGeom prst="roundRect">
            <a:avLst>
              <a:gd name="adj" fmla="val 3429"/>
            </a:avLst>
          </a:prstGeom>
          <a:solidFill>
            <a:srgbClr val="1E2D5A"/>
          </a:solidFill>
          <a:ln w="19050">
            <a:solidFill>
              <a:srgbClr val="6C8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274320" y="312724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(sync)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3547872"/>
            <a:ext cx="1600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__enc_key__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MMKV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892808" y="3904488"/>
            <a:ext cx="15544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2057400" y="3090672"/>
            <a:ext cx="1600200" cy="1627632"/>
          </a:xfrm>
          <a:prstGeom prst="roundRect">
            <a:avLst>
              <a:gd name="adj" fmla="val 3429"/>
            </a:avLst>
          </a:prstGeom>
          <a:solidFill>
            <a:srgbClr val="3D2A00"/>
          </a:solidFill>
          <a:ln w="19050">
            <a:solidFill>
              <a:srgbClr val="F7C26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2057400" y="312724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(async)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057400" y="3547872"/>
            <a:ext cx="1600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KC.getGenericPassword()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Keychain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75888" y="3904488"/>
            <a:ext cx="15544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3840480" y="3090672"/>
            <a:ext cx="1600200" cy="1627632"/>
          </a:xfrm>
          <a:prstGeom prst="roundRect">
            <a:avLst>
              <a:gd name="adj" fmla="val 3429"/>
            </a:avLst>
          </a:prstGeom>
          <a:solidFill>
            <a:srgbClr val="242740"/>
          </a:solidFill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3840480" y="312724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OK?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840480" y="3547872"/>
            <a:ext cx="1600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→ utiliser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→ generateKey()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58968" y="3904488"/>
            <a:ext cx="15544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5623560" y="3090672"/>
            <a:ext cx="1600200" cy="1627632"/>
          </a:xfrm>
          <a:prstGeom prst="roundRect">
            <a:avLst>
              <a:gd name="adj" fmla="val 3429"/>
            </a:avLst>
          </a:prstGeom>
          <a:solidFill>
            <a:srgbClr val="3D0010"/>
          </a:solidFill>
          <a:ln w="19050">
            <a:solidFill>
              <a:srgbClr val="F76C8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5623560" y="312724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623560" y="3547872"/>
            <a:ext cx="1600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if(mmkvKey) key=mmkvKey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 data loss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242048" y="3904488"/>
            <a:ext cx="15544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7406640" y="3090672"/>
            <a:ext cx="1600200" cy="1627632"/>
          </a:xfrm>
          <a:prstGeom prst="roundRect">
            <a:avLst>
              <a:gd name="adj" fmla="val 3429"/>
            </a:avLst>
          </a:prstGeom>
          <a:solidFill>
            <a:srgbClr val="0D3325"/>
          </a:solidFill>
          <a:ln w="19050">
            <a:solidFill>
              <a:srgbClr val="5EE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7406640" y="312724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Prêt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406640" y="3547872"/>
            <a:ext cx="1600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_store = patrimoi_v2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chiffré AES-128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20040" y="9144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6C8EF7"/>
          </a:solidFill>
          <a:ln w="12700">
            <a:solidFill>
              <a:srgbClr val="6C8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117"/>
                </a:solidFill>
              </a:rPr>
              <a:t>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d'intégration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— 4 services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42416"/>
          <a:ext cx="4206240" cy="1761744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Implémentation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(GoTrue)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Inscription, connexion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EE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keychainStorage adapter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+ RLS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Stockage JSONB patrimoine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EE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supabase.from('patrimoine_data')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Functions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 BVC, or, devises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EE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market-data-proxy (Deno)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pg_cron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market_cache / 30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EE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Migration 003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20040" y="2834640"/>
            <a:ext cx="4206240" cy="804672"/>
          </a:xfrm>
          <a:prstGeom prst="roundRect">
            <a:avLst>
              <a:gd name="adj" fmla="val 6818"/>
            </a:avLst>
          </a:prstGeom>
          <a:solidFill>
            <a:srgbClr val="1A1D2E"/>
          </a:solidFill>
          <a:ln w="15240">
            <a:solidFill>
              <a:srgbClr val="6C8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457200" y="288036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keychainStorage adapter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310896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JWT (access + refresh token) sont stockés dans le Keychain iOS (clés dérivées du Secure Enclave), à la place de l'AsyncStorage par défaut — jamais en fichier texte en clair.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0040" y="3703320"/>
            <a:ext cx="4206240" cy="749808"/>
          </a:xfrm>
          <a:prstGeom prst="roundRect">
            <a:avLst>
              <a:gd name="adj" fmla="val 7317"/>
            </a:avLst>
          </a:prstGeom>
          <a:solidFill>
            <a:srgbClr val="1A1D2E"/>
          </a:solidFill>
          <a:ln w="15240">
            <a:solidFill>
              <a:srgbClr val="F76C8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57200" y="374904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— module stub défensif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397764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@sentry/react-native est absent → no-ops silencieux. Scrubbing PII (montants, emails). Silence errSecMissingEntitlement (simulateur).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663440" y="74980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pattern (syncQueue.js)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042416"/>
            <a:ext cx="731520" cy="822960"/>
          </a:xfrm>
          <a:prstGeom prst="roundRect">
            <a:avLst>
              <a:gd name="adj" fmla="val 6250"/>
            </a:avLst>
          </a:prstGeom>
          <a:solidFill>
            <a:srgbClr val="1A1D2E"/>
          </a:solidFill>
          <a:ln w="19050">
            <a:solidFill>
              <a:srgbClr val="6C8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4663440" y="1042416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413248" y="1453896"/>
            <a:ext cx="10058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5513832" y="1042416"/>
            <a:ext cx="731520" cy="822960"/>
          </a:xfrm>
          <a:prstGeom prst="roundRect">
            <a:avLst>
              <a:gd name="adj" fmla="val 6250"/>
            </a:avLst>
          </a:prstGeom>
          <a:solidFill>
            <a:srgbClr val="1A1D2E"/>
          </a:solidFill>
          <a:ln w="19050">
            <a:solidFill>
              <a:srgbClr val="6C8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5513832" y="1042416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setData()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263640" y="1453896"/>
            <a:ext cx="10058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8"/>
          <p:cNvSpPr/>
          <p:nvPr/>
        </p:nvSpPr>
        <p:spPr>
          <a:xfrm>
            <a:off x="6364224" y="1042416"/>
            <a:ext cx="731520" cy="822960"/>
          </a:xfrm>
          <a:prstGeom prst="roundRect">
            <a:avLst>
              <a:gd name="adj" fmla="val 6250"/>
            </a:avLst>
          </a:prstGeom>
          <a:solidFill>
            <a:srgbClr val="1A1D2E"/>
          </a:solidFill>
          <a:ln w="19050">
            <a:solidFill>
              <a:srgbClr val="F7C26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6364224" y="1042416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MMKV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7114032" y="1453896"/>
            <a:ext cx="10058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1"/>
          <p:cNvSpPr/>
          <p:nvPr/>
        </p:nvSpPr>
        <p:spPr>
          <a:xfrm>
            <a:off x="7214616" y="1042416"/>
            <a:ext cx="731520" cy="822960"/>
          </a:xfrm>
          <a:prstGeom prst="roundRect">
            <a:avLst>
              <a:gd name="adj" fmla="val 6250"/>
            </a:avLst>
          </a:prstGeom>
          <a:solidFill>
            <a:srgbClr val="1A1D2E"/>
          </a:solidFill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7214616" y="1042416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stripMarket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Data()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964424" y="1453896"/>
            <a:ext cx="10058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4"/>
          <p:cNvSpPr/>
          <p:nvPr/>
        </p:nvSpPr>
        <p:spPr>
          <a:xfrm>
            <a:off x="8065008" y="1042416"/>
            <a:ext cx="731520" cy="822960"/>
          </a:xfrm>
          <a:prstGeom prst="roundRect">
            <a:avLst>
              <a:gd name="adj" fmla="val 6250"/>
            </a:avLst>
          </a:prstGeom>
          <a:solidFill>
            <a:srgbClr val="1A1D2E"/>
          </a:solidFill>
          <a:ln w="19050">
            <a:solidFill>
              <a:srgbClr val="5EE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8065008" y="1042416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663440" y="2011680"/>
            <a:ext cx="1920240" cy="749808"/>
          </a:xfrm>
          <a:prstGeom prst="roundRect">
            <a:avLst>
              <a:gd name="adj" fmla="val 6098"/>
            </a:avLst>
          </a:prstGeom>
          <a:solidFill>
            <a:srgbClr val="242740"/>
          </a:solidFill>
          <a:ln w="1270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4754880" y="206654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Coalescing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754880" y="230428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entrée/userId (last-write-wins)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748272" y="2011680"/>
            <a:ext cx="1920240" cy="749808"/>
          </a:xfrm>
          <a:prstGeom prst="roundRect">
            <a:avLst>
              <a:gd name="adj" fmla="val 6098"/>
            </a:avLst>
          </a:prstGeom>
          <a:solidFill>
            <a:srgbClr val="242740"/>
          </a:solidFill>
          <a:ln w="1270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6839712" y="206654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 800ms + worker 5s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839712" y="230428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Équilibre réactivité / bande passante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663440" y="2834640"/>
            <a:ext cx="1920240" cy="749808"/>
          </a:xfrm>
          <a:prstGeom prst="roundRect">
            <a:avLst>
              <a:gd name="adj" fmla="val 6098"/>
            </a:avLst>
          </a:prstGeom>
          <a:solidFill>
            <a:srgbClr val="242740"/>
          </a:solidFill>
          <a:ln w="1270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3"/>
          <p:cNvSpPr/>
          <p:nvPr/>
        </p:nvSpPr>
        <p:spPr>
          <a:xfrm>
            <a:off x="4754880" y="288950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5 retries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754880" y="312724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 exponentiel base 1000ms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748272" y="2834640"/>
            <a:ext cx="1920240" cy="749808"/>
          </a:xfrm>
          <a:prstGeom prst="roundRect">
            <a:avLst>
              <a:gd name="adj" fmla="val 6098"/>
            </a:avLst>
          </a:prstGeom>
          <a:solidFill>
            <a:srgbClr val="242740"/>
          </a:solidFill>
          <a:ln w="1270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6"/>
          <p:cNvSpPr/>
          <p:nvPr/>
        </p:nvSpPr>
        <p:spPr>
          <a:xfrm>
            <a:off x="6839712" y="288950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Verrou optimiste (M008)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839712" y="312724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 save_patrimoine_data — had_conflict: true sans bloquer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663440" y="3657600"/>
            <a:ext cx="1920240" cy="749808"/>
          </a:xfrm>
          <a:prstGeom prst="roundRect">
            <a:avLst>
              <a:gd name="adj" fmla="val 6098"/>
            </a:avLst>
          </a:prstGeom>
          <a:solidFill>
            <a:srgbClr val="242740"/>
          </a:solidFill>
          <a:ln w="1270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39"/>
          <p:cNvSpPr/>
          <p:nvPr/>
        </p:nvSpPr>
        <p:spPr>
          <a:xfrm>
            <a:off x="4754880" y="37124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Mutations échouées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754880" y="395020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Persistées dans outbox_failed_v2 (max 20) + alerte Sentry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6748272" y="3657600"/>
            <a:ext cx="1920240" cy="749808"/>
          </a:xfrm>
          <a:prstGeom prst="roundRect">
            <a:avLst>
              <a:gd name="adj" fmla="val 6098"/>
            </a:avLst>
          </a:prstGeom>
          <a:solidFill>
            <a:srgbClr val="242740"/>
          </a:solidFill>
          <a:ln w="1270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2"/>
          <p:cNvSpPr/>
          <p:nvPr/>
        </p:nvSpPr>
        <p:spPr>
          <a:xfrm>
            <a:off x="6839712" y="37124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 — stripMarketData()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839712" y="395020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cours/taux/variation jamais envoyés à Supabase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20040" y="9144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6C8EF7"/>
          </a:solidFill>
          <a:ln w="12700">
            <a:solidFill>
              <a:srgbClr val="6C8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117"/>
                </a:solidFill>
              </a:rPr>
              <a:t>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données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Store (patrimoineStore.js) — store plat, pas de slices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42416"/>
          <a:ext cx="8503920" cy="15697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Slice logique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Setters clés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patrimoine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EE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 (INIT par défaut)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setData(fn) → sync · setDataRaw(fn) → pas de sync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EE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page, sub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EE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setPage(page, sub?)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EE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user, demoMode, authReady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setUser · setDemoMode · setAuthReady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EE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onboardingDone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EE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setOnboardingDone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/ Sync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EE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isRefreshing, bvcStatus, discret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Setters correspondants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320040" y="2816352"/>
            <a:ext cx="8503920" cy="512064"/>
          </a:xfrm>
          <a:prstGeom prst="roundRect">
            <a:avLst>
              <a:gd name="adj" fmla="val 10714"/>
            </a:avLst>
          </a:prstGeom>
          <a:solidFill>
            <a:srgbClr val="1A1D2E"/>
          </a:solidFill>
          <a:ln w="15240">
            <a:solidFill>
              <a:srgbClr val="F7C26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02920" y="285292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setData vs setDataRaw — distinction critique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305409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setData(fn) déclenche enqueueSync() → sync cloud. setDataRaw(fn) est réservé au chargement initial depuis Supabase — utiliser setData ici déclencherait une sync de données déjà sur le serveur.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20040" y="342900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PATRIMOINE — 8 CATÉGORIES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20040" y="3675888"/>
            <a:ext cx="2011680" cy="493776"/>
          </a:xfrm>
          <a:prstGeom prst="roundRect">
            <a:avLst>
              <a:gd name="adj" fmla="val 7407"/>
            </a:avLst>
          </a:prstGeom>
          <a:solidFill>
            <a:srgbClr val="242740"/>
          </a:solidFill>
          <a:ln w="1016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411480" y="37124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Immobilier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11480" y="391363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immobilier  *stripped (R8)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2468880" y="3675888"/>
            <a:ext cx="2011680" cy="493776"/>
          </a:xfrm>
          <a:prstGeom prst="roundRect">
            <a:avLst>
              <a:gd name="adj" fmla="val 7407"/>
            </a:avLst>
          </a:prstGeom>
          <a:solidFill>
            <a:srgbClr val="242740"/>
          </a:solidFill>
          <a:ln w="1016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2560320" y="37124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Bourse (PEA)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560320" y="391363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  *stripped (R8)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617720" y="3675888"/>
            <a:ext cx="2011680" cy="493776"/>
          </a:xfrm>
          <a:prstGeom prst="roundRect">
            <a:avLst>
              <a:gd name="adj" fmla="val 7407"/>
            </a:avLst>
          </a:prstGeom>
          <a:solidFill>
            <a:srgbClr val="242740"/>
          </a:solidFill>
          <a:ln w="1016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4709160" y="37124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Compte-titres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709160" y="391363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  *stripped (R8)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6766560" y="3675888"/>
            <a:ext cx="2011680" cy="493776"/>
          </a:xfrm>
          <a:prstGeom prst="roundRect">
            <a:avLst>
              <a:gd name="adj" fmla="val 7407"/>
            </a:avLst>
          </a:prstGeom>
          <a:solidFill>
            <a:srgbClr val="242740"/>
          </a:solidFill>
          <a:ln w="1016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6858000" y="37124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858000" y="391363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 *stripped (R8)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320040" y="4224528"/>
            <a:ext cx="2011680" cy="493776"/>
          </a:xfrm>
          <a:prstGeom prst="roundRect">
            <a:avLst>
              <a:gd name="adj" fmla="val 7407"/>
            </a:avLst>
          </a:prstGeom>
          <a:solidFill>
            <a:srgbClr val="242740"/>
          </a:solidFill>
          <a:ln w="1016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411480" y="42611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Assurance-vie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11480" y="446227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assuranceVie  *stripped (R8)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2468880" y="4224528"/>
            <a:ext cx="2011680" cy="493776"/>
          </a:xfrm>
          <a:prstGeom prst="roundRect">
            <a:avLst>
              <a:gd name="adj" fmla="val 7407"/>
            </a:avLst>
          </a:prstGeom>
          <a:solidFill>
            <a:srgbClr val="242740"/>
          </a:solidFill>
          <a:ln w="1016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2560320" y="42611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Liquidités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560320" y="446227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liquidites  *stripped (R8)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4617720" y="4224528"/>
            <a:ext cx="2011680" cy="493776"/>
          </a:xfrm>
          <a:prstGeom prst="roundRect">
            <a:avLst>
              <a:gd name="adj" fmla="val 7407"/>
            </a:avLst>
          </a:prstGeom>
          <a:solidFill>
            <a:srgbClr val="242740"/>
          </a:solidFill>
          <a:ln w="1016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8"/>
          <p:cNvSpPr/>
          <p:nvPr/>
        </p:nvSpPr>
        <p:spPr>
          <a:xfrm>
            <a:off x="4709160" y="42611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Retraite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709160" y="446227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retraite  *stripped (R8)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6766560" y="4224528"/>
            <a:ext cx="2011680" cy="493776"/>
          </a:xfrm>
          <a:prstGeom prst="roundRect">
            <a:avLst>
              <a:gd name="adj" fmla="val 7407"/>
            </a:avLst>
          </a:prstGeom>
          <a:solidFill>
            <a:srgbClr val="242740"/>
          </a:solidFill>
          <a:ln w="1016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1"/>
          <p:cNvSpPr/>
          <p:nvPr/>
        </p:nvSpPr>
        <p:spPr>
          <a:xfrm>
            <a:off x="6858000" y="42611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858000" y="446227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autres  *stripped (R8)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cours/taux stripMarketData() avant envoi Supabase (R8)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20040" y="9144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6C8EF7"/>
          </a:solidFill>
          <a:ln w="12700">
            <a:solidFill>
              <a:srgbClr val="6C8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117"/>
                </a:solidFill>
              </a:rPr>
              <a:t>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IHM (Interface Utilisateur)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8503920" cy="457200"/>
          </a:xfrm>
          <a:prstGeom prst="roundRect">
            <a:avLst>
              <a:gd name="adj" fmla="val 12000"/>
            </a:avLst>
          </a:prstGeom>
          <a:solidFill>
            <a:srgbClr val="1A1D2E"/>
          </a:solidFill>
          <a:ln w="15240">
            <a:solidFill>
              <a:srgbClr val="6C8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02920" y="78638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 maison basé sur Zustand — aucune dépendance React Navigation.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969264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Navigation écarté : navigation tabulaire simple, ~800 Ko économisés, zéro stack navigator imbriqué.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29844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(AppNavigator.tsx — usePatrimoineStore(s =&gt; s.page))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591056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242740"/>
          </a:solidFill>
          <a:ln w="19050">
            <a:solidFill>
              <a:srgbClr val="F76C8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20040" y="159105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7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PageAuth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7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signup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139696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242740"/>
          </a:solidFill>
          <a:ln w="19050">
            <a:solidFill>
              <a:srgbClr val="F7C26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20040" y="213969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PageOnboarding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config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688336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242740"/>
          </a:solidFill>
          <a:ln w="19050">
            <a:solidFill>
              <a:srgbClr val="F7C26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20040" y="268833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PageProverbe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77440" y="1591056"/>
            <a:ext cx="6446520" cy="2212848"/>
          </a:xfrm>
          <a:prstGeom prst="roundRect">
            <a:avLst>
              <a:gd name="adj" fmla="val 2479"/>
            </a:avLst>
          </a:prstGeom>
          <a:solidFill>
            <a:srgbClr val="242740"/>
          </a:solidFill>
          <a:ln w="12700">
            <a:solidFill>
              <a:srgbClr val="6C8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514600" y="1645920"/>
            <a:ext cx="6217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tabs (appReady = true)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14600" y="1901952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1A1D2E"/>
          </a:solidFill>
          <a:ln w="15240">
            <a:solidFill>
              <a:srgbClr val="5EE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514600" y="1901952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· BVC · 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087368" y="1901952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1A1D2E"/>
          </a:solidFill>
          <a:ln w="15240">
            <a:solidFill>
              <a:srgbClr val="5EE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087368" y="1901952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catégories CRUD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60136" y="1901952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1A1D2E"/>
          </a:solidFill>
          <a:ln w="15240">
            <a:solidFill>
              <a:srgbClr val="5EE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660136" y="1901952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 IA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32904" y="1901952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1A1D2E"/>
          </a:solidFill>
          <a:ln w="15240">
            <a:solidFill>
              <a:srgbClr val="5EE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232904" y="1901952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· PIN · plan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14600" y="2633472"/>
            <a:ext cx="6217920" cy="475488"/>
          </a:xfrm>
          <a:prstGeom prst="roundRect">
            <a:avLst>
              <a:gd name="adj" fmla="val 7692"/>
            </a:avLst>
          </a:prstGeom>
          <a:solidFill>
            <a:srgbClr val="1E2D5A"/>
          </a:solidFill>
          <a:ln w="12700">
            <a:solidFill>
              <a:srgbClr val="6C8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651760" y="2633472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30168" y="2633472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08576" y="2633472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86984" y="2633472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65392" y="2633472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43800" y="2633472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017520" y="312724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— 6 onglets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20040" y="3822192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1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059936"/>
          <a:ext cx="8503920" cy="96926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EE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PageDashboard.jsx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patrimoine · sparklines · BVC · or · devises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Actifs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EE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PageActifs.jsx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 et édition des 8 catégories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Paramètres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EE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PageParams.jsx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 · PIN · plan PatriMoi+ · export PDF · discret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20040" y="9144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6C8EF7"/>
          </a:solidFill>
          <a:ln w="12700">
            <a:solidFill>
              <a:srgbClr val="6C8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117"/>
                </a:solidFill>
              </a:rPr>
              <a:t>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 de développement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768096"/>
            <a:ext cx="2816352" cy="1938528"/>
          </a:xfrm>
          <a:prstGeom prst="roundRect">
            <a:avLst>
              <a:gd name="adj" fmla="val 2830"/>
            </a:avLst>
          </a:prstGeom>
          <a:solidFill>
            <a:srgbClr val="1A1D2E"/>
          </a:solidFill>
          <a:ln w="15240">
            <a:solidFill>
              <a:srgbClr val="6C8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859536"/>
            <a:ext cx="329184" cy="256032"/>
          </a:xfrm>
          <a:prstGeom prst="roundRect">
            <a:avLst>
              <a:gd name="adj" fmla="val 14286"/>
            </a:avLst>
          </a:prstGeom>
          <a:solidFill>
            <a:srgbClr val="6C8EF7"/>
          </a:solidFill>
          <a:ln w="12700">
            <a:solidFill>
              <a:srgbClr val="6C8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85953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859536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Static Imports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170432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modules natifs via require() dans un try/catch. Jamais d'import ES6 statique → si un module natif manque (CI), le module factory se termine quand même.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2560320" cy="804672"/>
          </a:xfrm>
          <a:prstGeom prst="roundRect">
            <a:avLst>
              <a:gd name="adj" fmla="val 4545"/>
            </a:avLst>
          </a:prstGeom>
          <a:solidFill>
            <a:srgbClr val="0D1117"/>
          </a:solidFill>
          <a:ln w="635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02920" y="1865376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EE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KC=null;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 KC=require('react-native-keychain'); } catch {}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64408" y="768096"/>
            <a:ext cx="2816352" cy="1938528"/>
          </a:xfrm>
          <a:prstGeom prst="roundRect">
            <a:avLst>
              <a:gd name="adj" fmla="val 2830"/>
            </a:avLst>
          </a:prstGeom>
          <a:solidFill>
            <a:srgbClr val="1A1D2E"/>
          </a:solidFill>
          <a:ln w="15240">
            <a:solidFill>
              <a:srgbClr val="F7C26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401568" y="859536"/>
            <a:ext cx="329184" cy="256032"/>
          </a:xfrm>
          <a:prstGeom prst="roundRect">
            <a:avLst>
              <a:gd name="adj" fmla="val 14286"/>
            </a:avLst>
          </a:prstGeom>
          <a:solidFill>
            <a:srgbClr val="F7C26C"/>
          </a:solidFill>
          <a:ln w="12700">
            <a:solidFill>
              <a:srgbClr val="F7C26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401568" y="85953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13048" y="859536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R-series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01568" y="1170432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R2=Keychain, R3=verrou optimiste, R5=Sentry, R7=snapshots, R8=stripMarketData, R9=validation sans Zod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01568" y="1828800"/>
            <a:ext cx="2560320" cy="804672"/>
          </a:xfrm>
          <a:prstGeom prst="roundRect">
            <a:avLst>
              <a:gd name="adj" fmla="val 4545"/>
            </a:avLst>
          </a:prstGeom>
          <a:solidFill>
            <a:srgbClr val="0D1117"/>
          </a:solidFill>
          <a:ln w="635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447288" y="1865376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EE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R8 — strip avant upsert Supabase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08776" y="768096"/>
            <a:ext cx="2816352" cy="1938528"/>
          </a:xfrm>
          <a:prstGeom prst="roundRect">
            <a:avLst>
              <a:gd name="adj" fmla="val 2830"/>
            </a:avLst>
          </a:prstGeom>
          <a:solidFill>
            <a:srgbClr val="1A1D2E"/>
          </a:solidFill>
          <a:ln w="15240">
            <a:solidFill>
              <a:srgbClr val="5EE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345936" y="859536"/>
            <a:ext cx="329184" cy="256032"/>
          </a:xfrm>
          <a:prstGeom prst="roundRect">
            <a:avLst>
              <a:gd name="adj" fmla="val 14286"/>
            </a:avLst>
          </a:prstGeom>
          <a:solidFill>
            <a:srgbClr val="5EE7A7"/>
          </a:solidFill>
          <a:ln w="12700">
            <a:solidFill>
              <a:srgbClr val="5EE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345936" y="85953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57416" y="859536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setData vs setDataRaw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45936" y="1170432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setData(fn) → sync cloud. setDataRaw(fn) → chargement depuis Supabase uniquement. Ne jamais inverser.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45936" y="1828800"/>
            <a:ext cx="2560320" cy="804672"/>
          </a:xfrm>
          <a:prstGeom prst="roundRect">
            <a:avLst>
              <a:gd name="adj" fmla="val 4545"/>
            </a:avLst>
          </a:prstGeom>
          <a:solidFill>
            <a:srgbClr val="0D1117"/>
          </a:solidFill>
          <a:ln w="635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391656" y="1865376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EE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setData(d =&gt; {...})   // ✅ mutation user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setDataRaw(d =&gt; {...}) // ✅ init depuis cloud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2852928"/>
            <a:ext cx="2816352" cy="1938528"/>
          </a:xfrm>
          <a:prstGeom prst="roundRect">
            <a:avLst>
              <a:gd name="adj" fmla="val 2830"/>
            </a:avLst>
          </a:prstGeom>
          <a:solidFill>
            <a:srgbClr val="1A1D2E"/>
          </a:solidFill>
          <a:ln w="15240">
            <a:solidFill>
              <a:srgbClr val="F76C8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57200" y="2944368"/>
            <a:ext cx="329184" cy="256032"/>
          </a:xfrm>
          <a:prstGeom prst="roundRect">
            <a:avLst>
              <a:gd name="adj" fmla="val 14286"/>
            </a:avLst>
          </a:prstGeom>
          <a:solidFill>
            <a:srgbClr val="F76C8E"/>
          </a:solidFill>
          <a:ln w="12700">
            <a:solidFill>
              <a:srgbClr val="F76C8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57200" y="294436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68680" y="2944368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nommage fichiers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3255264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en .js ou .jsx (jamais .ts/.tsx sauf AppNavigator.tsx et __tests__/*.ts — Metro ne bundle pas __tests__/). Évite le Metro shadowing — apply_modifs.command supprime les .ts conflictuels.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913632"/>
            <a:ext cx="2560320" cy="804672"/>
          </a:xfrm>
          <a:prstGeom prst="roundRect">
            <a:avLst>
              <a:gd name="adj" fmla="val 4545"/>
            </a:avLst>
          </a:prstGeom>
          <a:solidFill>
            <a:srgbClr val="0D1117"/>
          </a:solidFill>
          <a:ln w="635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02920" y="395020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EE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OK : auth.js, storage.js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KO : auth.ts (shadowing Metro)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64408" y="2852928"/>
            <a:ext cx="2816352" cy="1938528"/>
          </a:xfrm>
          <a:prstGeom prst="roundRect">
            <a:avLst>
              <a:gd name="adj" fmla="val 2830"/>
            </a:avLst>
          </a:prstGeom>
          <a:solidFill>
            <a:srgbClr val="1A1D2E"/>
          </a:solidFill>
          <a:ln w="1524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401568" y="2944368"/>
            <a:ext cx="329184" cy="256032"/>
          </a:xfrm>
          <a:prstGeom prst="roundRect">
            <a:avLst>
              <a:gd name="adj" fmla="val 14286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3401568" y="294436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813048" y="2944368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deux dépôts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01568" y="3255264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src/ PatriMoi → git commit → apply_modifs.command → Metro reset → test device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401568" y="3913632"/>
            <a:ext cx="2560320" cy="804672"/>
          </a:xfrm>
          <a:prstGeom prst="roundRect">
            <a:avLst>
              <a:gd name="adj" fmla="val 4545"/>
            </a:avLst>
          </a:prstGeom>
          <a:solidFill>
            <a:srgbClr val="0D1117"/>
          </a:solidFill>
          <a:ln w="635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3447288" y="395020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EE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./apply_modifs.command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7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react-native start --reset-cache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20040" y="9144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6C8EF7"/>
          </a:solidFill>
          <a:ln w="12700">
            <a:solidFill>
              <a:srgbClr val="6C8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117"/>
                </a:solidFill>
              </a:rPr>
              <a:t>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49808"/>
          <a:ext cx="8503920" cy="261518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Vecteur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Implémentation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locales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Chiffrement AES-128 MMKV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EE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patrimoi_v2 — clé en Keychain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Clé de chiffrement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Keychain iOS (clés dérivées du Secure Enclave)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EE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WHEN_UNLOCKED_THIS_DEVICE_ONLY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iTunes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Clé absente des backups non chiffrés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 Keychain device-only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 utilisateur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SHA-256 + sel 128 bits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EE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pinHash.js — format &lt;hash&gt;:&lt;salt&gt;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 attack PIN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Comparaison à temps constant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EE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_constantTimeEqual()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JWT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Keychain (pas AsyncStorage)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EE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keychainStorage adapter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cloud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RLS — isolation stricte par user_id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politiques RLS sur toutes les tables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Prévention captures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EE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react-native-prevent-screenshot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PII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Scrubbing avant Sentry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EE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beforeSend — montants + emails filtrés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Clé anon Supabase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Publique par design — sécurité via RLS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Commentaire explicite dans supabase.js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4389120"/>
            <a:ext cx="8503920" cy="621792"/>
          </a:xfrm>
          <a:prstGeom prst="roundRect">
            <a:avLst>
              <a:gd name="adj" fmla="val 8824"/>
            </a:avLst>
          </a:prstGeom>
          <a:solidFill>
            <a:srgbClr val="1A1D2E"/>
          </a:solidFill>
          <a:ln w="15240">
            <a:solidFill>
              <a:srgbClr val="F7C26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02920" y="442569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Défense en profondeur — PIN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46360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pur JS (zéro dépendance native, compatible Hermes). Sel 128 bits via crypto.getRandomValues(). Migration transparente depuis l'ancien format PIN en clair au premier boot post-v1.2.0 (flag pin_migration_v2).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20040" y="9144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6C8EF7"/>
          </a:solidFill>
          <a:ln w="12700">
            <a:solidFill>
              <a:srgbClr val="6C8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117"/>
                </a:solidFill>
              </a:rPr>
              <a:t>10/11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CI / CD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(Jest)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42416"/>
          <a:ext cx="4114800" cy="11887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Couverture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EE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calc.test.js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14+ tests — calculs patrimoine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EE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migrations.test.ts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v0→v1, validateData()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EE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phase5.test.js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mergeHistory, snapshots, edge cases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EE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store.test.ts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 store actions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25786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minimum : 80 % sur les lignes (calc.ts, migrations.ts, store/slices/)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20040" y="29809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Mocks natifs 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11480" y="32004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mmkv.js — makeMemStore() in-memory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11480" y="35204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keychain.js — get/set en mémoire</a:t>
            </a:r>
            <a:endParaRPr lang="en-US" sz="950" dirty="0"/>
          </a:p>
        </p:txBody>
      </p:sp>
      <p:sp>
        <p:nvSpPr>
          <p:cNvPr id="7" name="Text 9"/>
          <p:cNvSpPr/>
          <p:nvPr/>
        </p:nvSpPr>
        <p:spPr>
          <a:xfrm>
            <a:off x="411480" y="38404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async-storage.js — stub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11480" y="41605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prevent-screenshot.js — no-op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663440" y="74980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 / CD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42416"/>
          <a:ext cx="4160520" cy="11887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Déclencheur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EE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ci.yml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main/develop + PR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EE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release.yml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 v*.*.*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20-35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EE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bvc.yml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30min + dispatch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EE7A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or.yml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30min + dispatch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4663440" y="2651760"/>
            <a:ext cx="713232" cy="731520"/>
          </a:xfrm>
          <a:prstGeom prst="roundRect">
            <a:avLst>
              <a:gd name="adj" fmla="val 6410"/>
            </a:avLst>
          </a:prstGeom>
          <a:solidFill>
            <a:srgbClr val="1E2D5A"/>
          </a:solidFill>
          <a:ln w="19050">
            <a:solidFill>
              <a:srgbClr val="6C8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3"/>
          <p:cNvSpPr/>
          <p:nvPr/>
        </p:nvSpPr>
        <p:spPr>
          <a:xfrm>
            <a:off x="4663440" y="2651760"/>
            <a:ext cx="713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C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5394960" y="3017520"/>
            <a:ext cx="731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5"/>
          <p:cNvSpPr/>
          <p:nvPr/>
        </p:nvSpPr>
        <p:spPr>
          <a:xfrm>
            <a:off x="5486400" y="2651760"/>
            <a:ext cx="713232" cy="731520"/>
          </a:xfrm>
          <a:prstGeom prst="roundRect">
            <a:avLst>
              <a:gd name="adj" fmla="val 6410"/>
            </a:avLst>
          </a:prstGeom>
          <a:solidFill>
            <a:srgbClr val="0D3325"/>
          </a:solidFill>
          <a:ln w="19050">
            <a:solidFill>
              <a:srgbClr val="5EE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6"/>
          <p:cNvSpPr/>
          <p:nvPr/>
        </p:nvSpPr>
        <p:spPr>
          <a:xfrm>
            <a:off x="5486400" y="2651760"/>
            <a:ext cx="713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ci.yml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tsc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6217920" y="3017520"/>
            <a:ext cx="731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18"/>
          <p:cNvSpPr/>
          <p:nvPr/>
        </p:nvSpPr>
        <p:spPr>
          <a:xfrm>
            <a:off x="6309360" y="2651760"/>
            <a:ext cx="713232" cy="731520"/>
          </a:xfrm>
          <a:prstGeom prst="roundRect">
            <a:avLst>
              <a:gd name="adj" fmla="val 6410"/>
            </a:avLst>
          </a:prstGeom>
          <a:solidFill>
            <a:srgbClr val="3D2A00"/>
          </a:solidFill>
          <a:ln w="19050">
            <a:solidFill>
              <a:srgbClr val="F7C26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9"/>
          <p:cNvSpPr/>
          <p:nvPr/>
        </p:nvSpPr>
        <p:spPr>
          <a:xfrm>
            <a:off x="6309360" y="2651760"/>
            <a:ext cx="713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tag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v*.*.*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7040880" y="3017520"/>
            <a:ext cx="731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1"/>
          <p:cNvSpPr/>
          <p:nvPr/>
        </p:nvSpPr>
        <p:spPr>
          <a:xfrm>
            <a:off x="7132320" y="2651760"/>
            <a:ext cx="713232" cy="731520"/>
          </a:xfrm>
          <a:prstGeom prst="roundRect">
            <a:avLst>
              <a:gd name="adj" fmla="val 6410"/>
            </a:avLst>
          </a:prstGeom>
          <a:solidFill>
            <a:srgbClr val="3D2A00"/>
          </a:solidFill>
          <a:ln w="19050">
            <a:solidFill>
              <a:srgbClr val="F7C26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2"/>
          <p:cNvSpPr/>
          <p:nvPr/>
        </p:nvSpPr>
        <p:spPr>
          <a:xfrm>
            <a:off x="7132320" y="2651760"/>
            <a:ext cx="713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release.yml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7C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Fastlane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7863840" y="3017520"/>
            <a:ext cx="731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4"/>
          <p:cNvSpPr/>
          <p:nvPr/>
        </p:nvSpPr>
        <p:spPr>
          <a:xfrm>
            <a:off x="7955280" y="2651760"/>
            <a:ext cx="713232" cy="731520"/>
          </a:xfrm>
          <a:prstGeom prst="roundRect">
            <a:avLst>
              <a:gd name="adj" fmla="val 6410"/>
            </a:avLst>
          </a:prstGeom>
          <a:solidFill>
            <a:srgbClr val="0D3325"/>
          </a:solidFill>
          <a:ln w="19050">
            <a:solidFill>
              <a:srgbClr val="5EE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5"/>
          <p:cNvSpPr/>
          <p:nvPr/>
        </p:nvSpPr>
        <p:spPr>
          <a:xfrm>
            <a:off x="7955280" y="2651760"/>
            <a:ext cx="713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TestFlight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bêta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4663440" y="345643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requis : MATCH_PASSWORD · MATCH_GIT_URL · APP_STORE_CONNECT_KEY_ID · APP_STORE_CONNECT_ISSUER_ID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4663440" y="3858768"/>
            <a:ext cx="4160520" cy="1115568"/>
          </a:xfrm>
          <a:prstGeom prst="roundRect">
            <a:avLst>
              <a:gd name="adj" fmla="val 4918"/>
            </a:avLst>
          </a:prstGeom>
          <a:solidFill>
            <a:srgbClr val="1A1D2E"/>
          </a:solidFill>
          <a:ln w="15240">
            <a:solidFill>
              <a:srgbClr val="F76C8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8"/>
          <p:cNvSpPr/>
          <p:nvPr/>
        </p:nvSpPr>
        <p:spPr>
          <a:xfrm>
            <a:off x="4800600" y="390448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Xcode signing — Bundle ID ma.patrimoi.app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4800600" y="413308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project.pbxproj contient 2 formes à corriger : forme littérale (fix_device_build.command) + forme template rfc1034identifier (fix_bundle_template2.command).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4800600" y="453542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ID -1001 : ouvrir Xcode → Signing &amp; Capabilities → View Accounts… → teams rechargent automatiquement.</a:t>
            </a:r>
            <a:endParaRPr lang="en-US" sz="900" dirty="0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DD3C440C-7D96-741C-0693-D54545C30205}"/>
              </a:ext>
            </a:extLst>
          </p:cNvPr>
          <p:cNvSpPr txBox="1"/>
          <p:nvPr/>
        </p:nvSpPr>
        <p:spPr>
          <a:xfrm>
            <a:off x="747423" y="35860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D2E"/>
          </a:solidFill>
          <a:ln w="1270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20040" y="9144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6C8EF7"/>
          </a:solidFill>
          <a:ln w="12700">
            <a:solidFill>
              <a:srgbClr val="6C8E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117"/>
                </a:solidFill>
              </a:rPr>
              <a:t>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Argumentaire des choix techniques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" y="749808"/>
            <a:ext cx="2103120" cy="1956816"/>
          </a:xfrm>
          <a:prstGeom prst="roundRect">
            <a:avLst>
              <a:gd name="adj" fmla="val 2804"/>
            </a:avLst>
          </a:prstGeom>
          <a:solidFill>
            <a:srgbClr val="1A1D2E"/>
          </a:solidFill>
          <a:ln w="15240">
            <a:solidFill>
              <a:srgbClr val="5EE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82880" y="749808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0D3325"/>
          </a:solidFill>
          <a:ln w="15240">
            <a:solidFill>
              <a:srgbClr val="5EE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78638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React Native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1133856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logique iOS+Android futur, Hermes rapide, écosystème mature.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1920240" cy="0"/>
          </a:xfrm>
          <a:prstGeom prst="line">
            <a:avLst/>
          </a:prstGeom>
          <a:noFill/>
          <a:ln w="635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74320" y="2066544"/>
            <a:ext cx="1920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(pas Android) / Flutter (équipe JS-native)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23160" y="749808"/>
            <a:ext cx="2103120" cy="1956816"/>
          </a:xfrm>
          <a:prstGeom prst="roundRect">
            <a:avLst>
              <a:gd name="adj" fmla="val 2804"/>
            </a:avLst>
          </a:prstGeom>
          <a:solidFill>
            <a:srgbClr val="1A1D2E"/>
          </a:solidFill>
          <a:ln w="15240">
            <a:solidFill>
              <a:srgbClr val="5EE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423160" y="749808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0D3325"/>
          </a:solidFill>
          <a:ln w="15240">
            <a:solidFill>
              <a:srgbClr val="5EE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514600" y="78638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MMKV vs AsyncStorage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14600" y="1133856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 synchrones dans reducers Zustand. AES-128 natif. 10× plus rapide.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14600" y="2011680"/>
            <a:ext cx="1920240" cy="0"/>
          </a:xfrm>
          <a:prstGeom prst="line">
            <a:avLst/>
          </a:prstGeom>
          <a:noFill/>
          <a:ln w="635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514600" y="2066544"/>
            <a:ext cx="1920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AsyncStorage conservé comme couche legacy (smartRead)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63440" y="749808"/>
            <a:ext cx="2103120" cy="1956816"/>
          </a:xfrm>
          <a:prstGeom prst="roundRect">
            <a:avLst>
              <a:gd name="adj" fmla="val 2804"/>
            </a:avLst>
          </a:prstGeom>
          <a:solidFill>
            <a:srgbClr val="1A1D2E"/>
          </a:solidFill>
          <a:ln w="15240">
            <a:solidFill>
              <a:srgbClr val="5EE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663440" y="749808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0D3325"/>
          </a:solidFill>
          <a:ln w="15240">
            <a:solidFill>
              <a:srgbClr val="5EE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754880" y="78638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Keychain pour clé MMKV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0" y="1133856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la clé au device physique, exclut les backups non chiffrés. Migration auto.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011680"/>
            <a:ext cx="1920240" cy="0"/>
          </a:xfrm>
          <a:prstGeom prst="line">
            <a:avLst/>
          </a:prstGeom>
          <a:noFill/>
          <a:ln w="635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754880" y="2066544"/>
            <a:ext cx="1920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 : clé en MMKV non chiffré, accessible via backup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903720" y="749808"/>
            <a:ext cx="2103120" cy="1956816"/>
          </a:xfrm>
          <a:prstGeom prst="roundRect">
            <a:avLst>
              <a:gd name="adj" fmla="val 2804"/>
            </a:avLst>
          </a:prstGeom>
          <a:solidFill>
            <a:srgbClr val="1A1D2E"/>
          </a:solidFill>
          <a:ln w="15240">
            <a:solidFill>
              <a:srgbClr val="5EE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903720" y="749808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0D3325"/>
          </a:solidFill>
          <a:ln w="15240">
            <a:solidFill>
              <a:srgbClr val="5EE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995160" y="78638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Supabase vs Firebase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95160" y="1133856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RLS, Edge Functions Deno, région West EU (RGPD), open-source.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95160" y="2011680"/>
            <a:ext cx="1920240" cy="0"/>
          </a:xfrm>
          <a:prstGeom prst="line">
            <a:avLst/>
          </a:prstGeom>
          <a:noFill/>
          <a:ln w="635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995160" y="2066544"/>
            <a:ext cx="1920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: NoSQL inadapté, règles sécurité moins expressives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2880" y="2834640"/>
            <a:ext cx="2103120" cy="1956816"/>
          </a:xfrm>
          <a:prstGeom prst="roundRect">
            <a:avLst>
              <a:gd name="adj" fmla="val 2804"/>
            </a:avLst>
          </a:prstGeom>
          <a:solidFill>
            <a:srgbClr val="1A1D2E"/>
          </a:solidFill>
          <a:ln w="15240">
            <a:solidFill>
              <a:srgbClr val="5EE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182880" y="283464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0D3325"/>
          </a:solidFill>
          <a:ln w="15240">
            <a:solidFill>
              <a:srgbClr val="5EE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274320" y="287121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Zustand vs Redux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4320" y="3218688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minimaliste 20 lignes, pas de boilerplate, sélecteurs natifs.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4096512"/>
            <a:ext cx="1920240" cy="0"/>
          </a:xfrm>
          <a:prstGeom prst="line">
            <a:avLst/>
          </a:prstGeom>
          <a:noFill/>
          <a:ln w="635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274320" y="4151376"/>
            <a:ext cx="1920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 : overhead disproportionné pour un store mono-entité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423160" y="2834640"/>
            <a:ext cx="2103120" cy="1956816"/>
          </a:xfrm>
          <a:prstGeom prst="roundRect">
            <a:avLst>
              <a:gd name="adj" fmla="val 2804"/>
            </a:avLst>
          </a:prstGeom>
          <a:solidFill>
            <a:srgbClr val="1A1D2E"/>
          </a:solidFill>
          <a:ln w="15240">
            <a:solidFill>
              <a:srgbClr val="5EE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2423160" y="283464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0D3325"/>
          </a:solidFill>
          <a:ln w="15240">
            <a:solidFill>
              <a:srgbClr val="5EE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2514600" y="287121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Routeur Zustand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514600" y="3218688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tabulaire simple, ~800 Ko économisés, zéro stack imbriqué.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514600" y="4096512"/>
            <a:ext cx="1920240" cy="0"/>
          </a:xfrm>
          <a:prstGeom prst="line">
            <a:avLst/>
          </a:prstGeom>
          <a:noFill/>
          <a:ln w="635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2514600" y="4151376"/>
            <a:ext cx="1920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Navigation réservé à la v2 si deep linking requis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63440" y="2834640"/>
            <a:ext cx="2103120" cy="1956816"/>
          </a:xfrm>
          <a:prstGeom prst="roundRect">
            <a:avLst>
              <a:gd name="adj" fmla="val 2804"/>
            </a:avLst>
          </a:prstGeom>
          <a:solidFill>
            <a:srgbClr val="1A1D2E"/>
          </a:solidFill>
          <a:ln w="15240">
            <a:solidFill>
              <a:srgbClr val="5EE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4663440" y="283464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0D3325"/>
          </a:solidFill>
          <a:ln w="15240">
            <a:solidFill>
              <a:srgbClr val="5EE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754880" y="287121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Outbox pattern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754880" y="3218688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Durabilité garantie même crash/coupure réseau. Mutation envoyée au prochain boot.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54880" y="4096512"/>
            <a:ext cx="1920240" cy="0"/>
          </a:xfrm>
          <a:prstGeom prst="line">
            <a:avLst/>
          </a:prstGeom>
          <a:noFill/>
          <a:ln w="635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4754880" y="4151376"/>
            <a:ext cx="1920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sync ~800ms (debounce) — acceptable pour données patrimoine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903720" y="2834640"/>
            <a:ext cx="2103120" cy="1956816"/>
          </a:xfrm>
          <a:prstGeom prst="roundRect">
            <a:avLst>
              <a:gd name="adj" fmla="val 2804"/>
            </a:avLst>
          </a:prstGeom>
          <a:solidFill>
            <a:srgbClr val="1A1D2E"/>
          </a:solidFill>
          <a:ln w="15240">
            <a:solidFill>
              <a:srgbClr val="5EE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6903720" y="283464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0D3325"/>
          </a:solidFill>
          <a:ln w="15240">
            <a:solidFill>
              <a:srgbClr val="5EE7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6995160" y="287121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EE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SHA-256 pur JS — migration one-shot au boot (v1.2.0, flag pin_migration_v2)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995160" y="3218688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Synchrone, zéro dépendance, compatible Hermes 0.13. Sel 128 bits.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995160" y="4096512"/>
            <a:ext cx="1920240" cy="0"/>
          </a:xfrm>
          <a:prstGeom prst="line">
            <a:avLst/>
          </a:prstGeom>
          <a:noFill/>
          <a:ln w="6350">
            <a:solidFill>
              <a:srgbClr val="2E32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6995160" y="4151376"/>
            <a:ext cx="1920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SubtleCrypto : asynchrone + non dispo sur tous contextes Hermes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7154</TotalTime>
  <Words>2158</Words>
  <Application>Microsoft Macintosh PowerPoint</Application>
  <PresentationFormat>Affichage à l'écran (16:9)</PresentationFormat>
  <Paragraphs>436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Othmane Zineddine</cp:lastModifiedBy>
  <cp:revision>2</cp:revision>
  <dcterms:created xsi:type="dcterms:W3CDTF">2026-07-20T07:05:51Z</dcterms:created>
  <dcterms:modified xsi:type="dcterms:W3CDTF">2026-07-25T10:41:49Z</dcterms:modified>
</cp:coreProperties>
</file>