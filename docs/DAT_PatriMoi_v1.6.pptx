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18288" cy="5143500"/>
          </a:xfrm>
          <a:prstGeom prst="rect">
            <a:avLst/>
          </a:prstGeom>
          <a:solidFill>
            <a:srgbClr val="6C8EF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D'ARCHITECTURE TECHNIQUE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1097280" cy="36576"/>
          </a:xfrm>
          <a:prstGeom prst="rect">
            <a:avLst/>
          </a:prstGeom>
          <a:solidFill>
            <a:srgbClr val="6C8EF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993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6334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React Native 0.75.4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640080"/>
            <a:ext cx="2377440" cy="1325880"/>
          </a:xfrm>
          <a:prstGeom prst="roundRect">
            <a:avLst>
              <a:gd name="adj" fmla="val 4828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640080"/>
            <a:ext cx="54864" cy="1325880"/>
          </a:xfrm>
          <a:prstGeom prst="rect">
            <a:avLst/>
          </a:prstGeom>
          <a:solidFill>
            <a:srgbClr val="6C8EF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713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914400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16+ (iPhone)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640080"/>
            <a:ext cx="2377440" cy="1325880"/>
          </a:xfrm>
          <a:prstGeom prst="roundRect">
            <a:avLst>
              <a:gd name="adj" fmla="val 4828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640080"/>
            <a:ext cx="54864" cy="1325880"/>
          </a:xfrm>
          <a:prstGeom prst="rect">
            <a:avLst/>
          </a:prstGeom>
          <a:solidFill>
            <a:srgbClr val="5EE7A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713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914400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0.75.4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0.13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23360" y="2194560"/>
            <a:ext cx="2377440" cy="1325880"/>
          </a:xfrm>
          <a:prstGeom prst="roundRect">
            <a:avLst>
              <a:gd name="adj" fmla="val 4828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2194560"/>
            <a:ext cx="54864" cy="1325880"/>
          </a:xfrm>
          <a:prstGeom prst="rect">
            <a:avLst/>
          </a:prstGeom>
          <a:solidFill>
            <a:srgbClr val="F7C26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22677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2468880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West EU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(Ireland, RGPD)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2194560"/>
            <a:ext cx="2377440" cy="1325880"/>
          </a:xfrm>
          <a:prstGeom prst="roundRect">
            <a:avLst>
              <a:gd name="adj" fmla="val 4828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194560"/>
            <a:ext cx="54864" cy="1325880"/>
          </a:xfrm>
          <a:prstGeom prst="rect">
            <a:avLst/>
          </a:prstGeom>
          <a:solidFill>
            <a:srgbClr val="5EE7A7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2677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2468880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→ App Store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Team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0" y="48234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PatriMoi+ · 49 DH/mois · Supabase PostgreSQL + RLS · MMKV AES-128 · Keychain iOS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Évolutions majeures v1.2 → v1.6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changé dans cette version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51960" cy="12801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54864" cy="1280160"/>
          </a:xfrm>
          <a:prstGeom prst="rect">
            <a:avLst/>
          </a:prstGeom>
          <a:solidFill>
            <a:srgbClr val="5EE7A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503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Page SuiviBudget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mensuel revenus/dépenses, catégories, balance, taux d'épargne, historique 6 mois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51960" cy="12801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777240"/>
            <a:ext cx="54864" cy="1280160"/>
          </a:xfrm>
          <a:prstGeom prst="rect">
            <a:avLst/>
          </a:prstGeom>
          <a:solidFill>
            <a:srgbClr val="6C8EF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503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Export PDF Duale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051560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Patrimoine + PDF Budget séparés via RNPDFExport.m (WKWebView)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194560"/>
            <a:ext cx="4251960" cy="12801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194560"/>
            <a:ext cx="54864" cy="1280160"/>
          </a:xfrm>
          <a:prstGeom prst="rect">
            <a:avLst/>
          </a:prstGeom>
          <a:solidFill>
            <a:srgbClr val="F7C26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2677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PDF Budget Enrichi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468880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badge (3 critères), SVG tendances 6 mois, top 3 dépenses, positions PEA/CT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4251960" cy="12801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194560"/>
            <a:ext cx="54864" cy="1280160"/>
          </a:xfrm>
          <a:prstGeom prst="rect">
            <a:avLst/>
          </a:prstGeom>
          <a:solidFill>
            <a:srgbClr val="F7C26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2677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Catégorie Transport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468880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Dépréciation automatique : Voiture 15%/an, Moto 12%/an, Camion 10%/an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3611880"/>
            <a:ext cx="4251960" cy="12801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611880"/>
            <a:ext cx="54864" cy="1280160"/>
          </a:xfrm>
          <a:prstGeom prst="rect">
            <a:avLst/>
          </a:prstGeom>
          <a:solidFill>
            <a:srgbClr val="5EE7A7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6850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Banque &amp; Carnet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886200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et Compte sur Carnet deviennent des catégories distinctes de Liquidités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611880"/>
            <a:ext cx="4251960" cy="12801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611880"/>
            <a:ext cx="54864" cy="1280160"/>
          </a:xfrm>
          <a:prstGeom prst="rect">
            <a:avLst/>
          </a:prstGeom>
          <a:solidFill>
            <a:srgbClr val="F76C8E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6850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Score Santé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886200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santé patrimoniale 4 dimensions dans PageConseils (diversification, épargne, BVC, liquidité)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Architecture globale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Client-heavy · BaaS-backed · Offline-first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1A1D2E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 v1.6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0.75.4 / Hermes 0.13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242740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35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(JSX / shared.jsx)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242740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435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242740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928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MMKV AES-128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18288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242740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18928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SyncQueue Outbox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242740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500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RNPDFExport.m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22860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242740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23500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PDF v1.6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24274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07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 iOS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94560" y="27432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242740"/>
          </a:solidFill>
          <a:ln w="12700">
            <a:solidFill>
              <a:srgbClr val="F76C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2807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(stub)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200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catégories · PatriMoi+ · Mode démo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7680" y="2103120"/>
            <a:ext cx="457200" cy="36576"/>
          </a:xfrm>
          <a:prstGeom prst="rect">
            <a:avLst/>
          </a:prstGeom>
          <a:solidFill>
            <a:srgbClr val="5EE7A7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1901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777240"/>
            <a:ext cx="2286000" cy="24688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868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106984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EU — Ireland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37760" y="1298448"/>
            <a:ext cx="2103120" cy="320040"/>
          </a:xfrm>
          <a:prstGeom prst="roundRect">
            <a:avLst>
              <a:gd name="adj" fmla="val 11429"/>
            </a:avLst>
          </a:prstGeom>
          <a:solidFill>
            <a:srgbClr val="242740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362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1719072"/>
            <a:ext cx="2103120" cy="320040"/>
          </a:xfrm>
          <a:prstGeom prst="roundRect">
            <a:avLst>
              <a:gd name="adj" fmla="val 11429"/>
            </a:avLst>
          </a:prstGeom>
          <a:solidFill>
            <a:srgbClr val="242740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783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patrimoine_data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139696"/>
            <a:ext cx="2103120" cy="320040"/>
          </a:xfrm>
          <a:prstGeom prst="roundRect">
            <a:avLst>
              <a:gd name="adj" fmla="val 11429"/>
            </a:avLst>
          </a:prstGeom>
          <a:solidFill>
            <a:srgbClr val="242740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203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market_cache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37760" y="2560320"/>
            <a:ext cx="2103120" cy="320040"/>
          </a:xfrm>
          <a:prstGeom prst="roundRect">
            <a:avLst>
              <a:gd name="adj" fmla="val 11429"/>
            </a:avLst>
          </a:prstGeom>
          <a:solidFill>
            <a:srgbClr val="242740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3383280"/>
            <a:ext cx="4069080" cy="1280160"/>
          </a:xfrm>
          <a:prstGeom prst="roundRect">
            <a:avLst>
              <a:gd name="adj" fmla="val 5714"/>
            </a:avLst>
          </a:prstGeom>
          <a:solidFill>
            <a:srgbClr val="1A1D2E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456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Données de Marché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70332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242740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74904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BVC · 70+ tickers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395020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bvc.yml → JSON cache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245352" y="370332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242740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1072" y="374904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DH/g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91072" y="395020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or.yml → JSON cache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598664" y="370332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242740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44384" y="374904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Devises BAM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44384" y="395020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devises via bkam.ma XML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8 Catégories d'actifs (v1.6)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Restructuration v1.2→v1.6 : Banque, Carnet, Transport ajoutés comme catégories primaires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1A1D2E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Liquidités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24712"/>
            <a:ext cx="18745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795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liquidites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Espèces DH + 18 devises étrangères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" y="196596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2011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BAM auto-fetch · stripped (R8)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04872" y="77724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1A1D2E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868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96312" y="1124712"/>
            <a:ext cx="18745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15" name="Text 13"/>
          <p:cNvSpPr/>
          <p:nvPr/>
        </p:nvSpPr>
        <p:spPr>
          <a:xfrm>
            <a:off x="2496312" y="11795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banque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96312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courants + épargne bancaire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78024" y="196596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011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: séparé de Liquidités en v1.6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81144" y="77724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1A1D2E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868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72584" y="1124712"/>
            <a:ext cx="18745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22" name="Text 20"/>
          <p:cNvSpPr/>
          <p:nvPr/>
        </p:nvSpPr>
        <p:spPr>
          <a:xfrm>
            <a:off x="4672584" y="11795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carnet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72584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sur Carnet — taux BAM 2,75%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54296" y="196596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2011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1/3/5 ans intérêts + versements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57416" y="77724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1A1D2E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868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48856" y="1124712"/>
            <a:ext cx="18745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29" name="Text 27"/>
          <p:cNvSpPr/>
          <p:nvPr/>
        </p:nvSpPr>
        <p:spPr>
          <a:xfrm>
            <a:off x="6848856" y="11795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pea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48856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tickers Bourse de Casablanca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30568" y="196596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67144" y="2011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 pondéré auto · donut · fiscal 5 ans · stripped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288036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1A1D2E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971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Compte-Titres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227832"/>
            <a:ext cx="18745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2826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" y="3520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+ OPCVM avec analytics P&amp;L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1752" y="406908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(R8) avant Supabase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04872" y="288036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1A1D2E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96312" y="2971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96312" y="3227832"/>
            <a:ext cx="18745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43" name="Text 41"/>
          <p:cNvSpPr/>
          <p:nvPr/>
        </p:nvSpPr>
        <p:spPr>
          <a:xfrm>
            <a:off x="2496312" y="32826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or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496312" y="3520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Grammes × prix or (DH/g)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78024" y="406908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via GitHub Actions cache or.yml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81144" y="288036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1A1D2E"/>
          </a:solidFill>
          <a:ln w="12700">
            <a:solidFill>
              <a:srgbClr val="B464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72584" y="2971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6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72584" y="3227832"/>
            <a:ext cx="18745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50" name="Text 48"/>
          <p:cNvSpPr/>
          <p:nvPr/>
        </p:nvSpPr>
        <p:spPr>
          <a:xfrm>
            <a:off x="4672584" y="32826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immobilier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72584" y="3520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 avec valorisation manuelle + loyers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54296" y="406908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90872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rendement locatif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757416" y="288036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1A1D2E"/>
          </a:solidFill>
          <a:ln w="12700">
            <a:solidFill>
              <a:srgbClr val="F76C8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48856" y="2971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★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48856" y="3227832"/>
            <a:ext cx="18745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57" name="Text 55"/>
          <p:cNvSpPr/>
          <p:nvPr/>
        </p:nvSpPr>
        <p:spPr>
          <a:xfrm>
            <a:off x="6848856" y="32826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transport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48856" y="3520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avec dépréciation automatique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30568" y="406908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67144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15%/an · Moto 12%/an · Camion 10%/an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Export PDF — Architecture duale (v1.6)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natif RNPDFExport.m · WKWebView · createPDFWithConfiguration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1572768" cy="640080"/>
          </a:xfrm>
          <a:prstGeom prst="roundRect">
            <a:avLst>
              <a:gd name="adj" fmla="val 10000"/>
            </a:avLst>
          </a:prstGeom>
          <a:solidFill>
            <a:srgbClr val="1A1D2E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8638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PageParams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(Bouton Export)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10512" y="969264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84248" y="749808"/>
            <a:ext cx="1572768" cy="640080"/>
          </a:xfrm>
          <a:prstGeom prst="roundRect">
            <a:avLst>
              <a:gd name="adj" fmla="val 10000"/>
            </a:avLst>
          </a:prstGeom>
          <a:solidFill>
            <a:srgbClr val="1A1D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78638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generateHTML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(template JS)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969264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39896" y="749808"/>
            <a:ext cx="1572768" cy="640080"/>
          </a:xfrm>
          <a:prstGeom prst="roundRect">
            <a:avLst>
              <a:gd name="adj" fmla="val 10000"/>
            </a:avLst>
          </a:prstGeom>
          <a:solidFill>
            <a:srgbClr val="1A1D2E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78638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RNPDFExport.m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(Native Module)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21808" y="969264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95544" y="749808"/>
            <a:ext cx="1572768" cy="640080"/>
          </a:xfrm>
          <a:prstGeom prst="roundRect">
            <a:avLst>
              <a:gd name="adj" fmla="val 10000"/>
            </a:avLst>
          </a:prstGeom>
          <a:solidFill>
            <a:srgbClr val="1A1D2E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78638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WKWebView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(offscreen render)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77456" y="969264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51192" y="749808"/>
            <a:ext cx="1572768" cy="640080"/>
          </a:xfrm>
          <a:prstGeom prst="roundRect">
            <a:avLst>
              <a:gd name="adj" fmla="val 10000"/>
            </a:avLst>
          </a:prstGeom>
          <a:solidFill>
            <a:srgbClr val="1A1D2E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78638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UIActivityView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(Partage iOS)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572768"/>
            <a:ext cx="4251960" cy="1691640"/>
          </a:xfrm>
          <a:prstGeom prst="roundRect">
            <a:avLst>
              <a:gd name="adj" fmla="val 3784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572768"/>
            <a:ext cx="54864" cy="1691640"/>
          </a:xfrm>
          <a:prstGeom prst="rect">
            <a:avLst/>
          </a:prstGeom>
          <a:solidFill>
            <a:srgbClr val="6C8EF7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6459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PDF Patrimoine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1847088"/>
            <a:ext cx="40690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patrimoine · Répartition 8 catégories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actifs (PEA, or, immobilier…)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personnalisés · Score santé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: 1-2 pages A4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572768"/>
            <a:ext cx="4251960" cy="1691640"/>
          </a:xfrm>
          <a:prstGeom prst="roundRect">
            <a:avLst>
              <a:gd name="adj" fmla="val 3784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572768"/>
            <a:ext cx="54864" cy="1691640"/>
          </a:xfrm>
          <a:prstGeom prst="rect">
            <a:avLst/>
          </a:prstGeom>
          <a:solidFill>
            <a:srgbClr val="5EE7A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6459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PDF Budget (v1.6 — enrichi)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1847088"/>
            <a:ext cx="40690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Santé badge (score 0/3 : balance · épargne · budget)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SVG Tendances : bar chart 6 derniers mois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Top 3 dépenses · Revenus détail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Positions PEA + CT avec P&amp;L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Comparatif mois N vs N-1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: 1-3 pages A4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401568"/>
            <a:ext cx="8686800" cy="1417320"/>
          </a:xfrm>
          <a:prstGeom prst="roundRect">
            <a:avLst>
              <a:gd name="adj" fmla="val 5161"/>
            </a:avLst>
          </a:prstGeom>
          <a:solidFill>
            <a:srgbClr val="3D2A00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930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date v1.6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730752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fmtD(iso) utilisait iso.split("-") directement → "25T23:00:00.000Z" comme fragment de jour dans le PDF.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: const d = String(iso).slice(0, 10) avant split → format dd/mm/yyyy garanti dans tous les cas.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4-10  Stockage &amp; Sécurité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MMKV AES-128 · Keychain iOS · Secure Enclave · SHA-256 PIN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743200" cy="4224528"/>
          </a:xfrm>
          <a:prstGeom prst="roundRect">
            <a:avLst>
              <a:gd name="adj" fmla="val 2667"/>
            </a:avLst>
          </a:prstGeom>
          <a:solidFill>
            <a:srgbClr val="1A1D2E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local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" y="1115568"/>
            <a:ext cx="25603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" y="123444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MMKV patrimoi_v2 — AES-128, clé en Keychain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" y="170992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Keychain iOS (Secure Enclave) — WHEN_UNLOCKED_THIS_DEVICE_ONLY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" y="2185416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AsyncStorage — legacy (migration progressive → retiré v2.0)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" y="266090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Outbox MMKV — queue mutations + verrou optimiste M008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36392" y="749808"/>
            <a:ext cx="2743200" cy="4224528"/>
          </a:xfrm>
          <a:prstGeom prst="roundRect">
            <a:avLst>
              <a:gd name="adj" fmla="val 2667"/>
            </a:avLst>
          </a:prstGeom>
          <a:solidFill>
            <a:srgbClr val="1A1D2E"/>
          </a:solidFill>
          <a:ln w="12700">
            <a:solidFill>
              <a:srgbClr val="F76C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115568"/>
            <a:ext cx="25603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15" name="Text 13"/>
          <p:cNvSpPr/>
          <p:nvPr/>
        </p:nvSpPr>
        <p:spPr>
          <a:xfrm>
            <a:off x="3264408" y="123444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PIN : SHA-256 + sel 128 bits → &lt;hash&gt;:&lt;salt&gt;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64408" y="170992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_constantTimeEqual() — protection timing attack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2185416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Supabase dans Keychain (pas AsyncStorage)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266090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RLS PostgreSQL — 5 politiques, isolation par user_id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31363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react-native-prevent-screenshot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64408" y="361188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discret — state discret → **** dans l'UI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64408" y="408736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Scrubbing PII avant Sentry (montants + emails)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44184" y="749808"/>
            <a:ext cx="2743200" cy="4224528"/>
          </a:xfrm>
          <a:prstGeom prst="roundRect">
            <a:avLst>
              <a:gd name="adj" fmla="val 2667"/>
            </a:avLst>
          </a:prstGeom>
          <a:solidFill>
            <a:srgbClr val="1A1D2E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53912" y="1115568"/>
            <a:ext cx="256032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23444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Coalescing last-write-wins par userId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170992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Debounce 800ms + worker 5s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2185416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 5 retries backoff exponentiel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200" y="266090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stripMarketData() (R8) — cours jamais sauvegardés en cloud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31363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outbox_failed_v2 (max 20) + alerte Sentry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361188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Verrou optimiste : had_conflict:true sans bloquer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CI / CD &amp; Signing Xcode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Fastlane · TestFlight · Personal Team (7 jours)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A1D2E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ci.yml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tsc --noEmit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ubuntu-latest · Node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242740"/>
          </a:solidFill>
          <a:ln w="12700">
            <a:solidFill>
              <a:srgbClr val="5EE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38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2-3 min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04872" y="77724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A1D2E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868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release.yml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96312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 → pod install → fastlane beta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macos-15 · Node 20 · Ruby 3.3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96312" y="1920240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242740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938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20-35 min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81144" y="77724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A1D2E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868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bvc.yml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72584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BVC → JSON cache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ubuntu-latest · Schedule 30min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72584" y="1920240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242740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1938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&lt;1 min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57416" y="77724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A1D2E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868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or.yml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48856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cours or → JSON cache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ubuntu-latest · Schedule 30min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48856" y="1920240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242740"/>
          </a:solidFill>
          <a:ln w="12700">
            <a:solidFill>
              <a:srgbClr val="6C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1938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&lt;1 min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" y="2377440"/>
            <a:ext cx="4251960" cy="2514600"/>
          </a:xfrm>
          <a:prstGeom prst="roundRect">
            <a:avLst>
              <a:gd name="adj" fmla="val 2909"/>
            </a:avLst>
          </a:prstGeom>
          <a:solidFill>
            <a:srgbClr val="3D0010"/>
          </a:solidFill>
          <a:ln w="12700">
            <a:solidFill>
              <a:srgbClr val="F76C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468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Personal Team — Provisioning expire tous les 7 jours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798064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expiration : "Provisioning profile expired".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Xcode → Signing &amp; Capabilities → Try Again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 timeout réseau (réseau corporate)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Basculer le Mac sur hotspot iPhone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Apple Developer servers accessibles via 4G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Then Try Again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377440"/>
            <a:ext cx="4251960" cy="2514600"/>
          </a:xfrm>
          <a:prstGeom prst="roundRect">
            <a:avLst>
              <a:gd name="adj" fmla="val 2909"/>
            </a:avLst>
          </a:prstGeom>
          <a:solidFill>
            <a:srgbClr val="3D2A00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468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Bundle ID — Deux formes à corriger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798064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project.pbxproj contient deux formes 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Forme littérale: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org.reactjs.native.example.PatriMoiApp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fix_device_build.command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Forme template: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org.reactjs.native.example.$(PRODUCT_NAME:rfc1034identifier)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fix_bundle_template2.command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cible : ma.patrimoi.app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Argumentaire des choix techniques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technologies pour PatriMoi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51960" cy="1353312"/>
          </a:xfrm>
          <a:prstGeom prst="roundRect">
            <a:avLst>
              <a:gd name="adj" fmla="val 473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06424"/>
            <a:ext cx="406908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6128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Partage code iOS/Android · logique métier JS · Hermes rapide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819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Swift : pas de partage. Flutter : accès Keychain/MMKV limité.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51960" cy="1353312"/>
          </a:xfrm>
          <a:prstGeom prst="roundRect">
            <a:avLst>
              <a:gd name="adj" fmla="val 473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5039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MMKV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06424"/>
            <a:ext cx="406908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16128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Synchrone (pas d'await), AES-128 natif, 10× plus rapide qu'AsyncStorage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5819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AsyncStorage : asynchrone → race conditions dans reducers Zustand.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221992"/>
            <a:ext cx="4251960" cy="1353312"/>
          </a:xfrm>
          <a:prstGeom prst="roundRect">
            <a:avLst>
              <a:gd name="adj" fmla="val 473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9514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WKWebView PDF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51176"/>
            <a:ext cx="406908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6060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Rendu SVG fidèle · CSS variables · createPDFWithConfiguration natif iOS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302666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react-native-html-to-pdf : UIWebView déprécié, SVG boîte noire.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221992"/>
            <a:ext cx="4251960" cy="1353312"/>
          </a:xfrm>
          <a:prstGeom prst="roundRect">
            <a:avLst>
              <a:gd name="adj" fmla="val 473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9514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551176"/>
            <a:ext cx="406908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6060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PostgreSQL + RLS · open-source · West EU (RGPD) · Edge Functions Deno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02666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Firebase : Firestore NoSQL inadapté, RLS moins expressif.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666744"/>
            <a:ext cx="4251960" cy="1353312"/>
          </a:xfrm>
          <a:prstGeom prst="roundRect">
            <a:avLst>
              <a:gd name="adj" fmla="val 473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3989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995928"/>
            <a:ext cx="406908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40507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~20 lignes · setData/setDataRaw distinction claire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44714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Redux Toolkit : overhead disproportionné pour store mono-entité.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666744"/>
            <a:ext cx="4251960" cy="1353312"/>
          </a:xfrm>
          <a:prstGeom prst="roundRect">
            <a:avLst>
              <a:gd name="adj" fmla="val 4730"/>
            </a:avLst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73989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MMKV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995928"/>
            <a:ext cx="4069080" cy="9144"/>
          </a:xfrm>
          <a:prstGeom prst="rect">
            <a:avLst/>
          </a:prstGeom>
          <a:solidFill>
            <a:srgbClr val="2E3250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0507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Durabilité mutations sur crash/coupure réseau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4714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Appel direct : perte de mutations si crash entre setData et réponse réseau.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Intégration Supabase &amp; APIs marché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 · Outbox pattern · BVC · BAM · Or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8686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/ 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PatriMoi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(GoTrue)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Inscription, connexion, refresh token automatique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keychainStorage adapter — JWT en Keychain 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patrimoine_data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JSONB patrimoine complet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par user_id · trigger handle_updated_at()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patrimoine_snapshots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Auto-snapshot quotidien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snapshot_date DATE · RLS auth.uid()=user_id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market_cache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BVC / Or / Devises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pg_cron toutes les 30 min · Public 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BVC (bvc.yml)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 actions 70+ tickers BVC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cron → JSON statique · MMKV 30min/stale 24h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BAM (bkam.ma)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change 18 devises → MAD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XML direct · MMKV 30min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(or.yml)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or en DH/gramme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cron → JSON statique · MMKV 30min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4160520"/>
            <a:ext cx="8686800" cy="822960"/>
          </a:xfrm>
          <a:prstGeom prst="roundRect">
            <a:avLst>
              <a:gd name="adj" fmla="val 6667"/>
            </a:avLst>
          </a:prstGeom>
          <a:solidFill>
            <a:srgbClr val="3D2A00"/>
          </a:solidFill>
          <a:ln w="12700">
            <a:solidFill>
              <a:srgbClr val="F7C26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2062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R8 : stripMarketData() retire cours/taux/variation/bvcUpdated avant chaque upsert Supabase — données de marché jamais persistées en cloud.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2026-07-28T14:56:50Z</dcterms:created>
  <dcterms:modified xsi:type="dcterms:W3CDTF">2026-07-28T14:56:50Z</dcterms:modified>
</cp:coreProperties>
</file>